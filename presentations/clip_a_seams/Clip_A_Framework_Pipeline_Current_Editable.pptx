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per framework title"/>
          <p:cNvSpPr txBox="1"/>
          <p:nvPr/>
        </p:nvSpPr>
        <p:spPr>
          <a:xfrm>
            <a:off x="475488" y="2286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212B"/>
                </a:solidFill>
                <a:latin typeface="Noto Sans"/>
              </a:rPr>
              <a:t>Framework overview</a:t>
            </a:r>
          </a:p>
        </p:txBody>
      </p:sp>
      <p:sp>
        <p:nvSpPr>
          <p:cNvPr id="3" name="Paper framework subtitle"/>
          <p:cNvSpPr txBox="1"/>
          <p:nvPr/>
        </p:nvSpPr>
        <p:spPr>
          <a:xfrm>
            <a:off x="475488" y="630936"/>
            <a:ext cx="8961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687581"/>
                </a:solidFill>
                <a:latin typeface="Noto Sans"/>
              </a:rPr>
              <a:t>Pinhole video → geometry-aware restoration → equirectangular 360° video</a:t>
            </a:r>
          </a:p>
        </p:txBody>
      </p:sp>
      <p:cxnSp>
        <p:nvCxnSpPr>
          <p:cNvPr id="4" name="Paper framework header rule"/>
          <p:cNvCxnSpPr/>
          <p:nvPr/>
        </p:nvCxnSpPr>
        <p:spPr>
          <a:xfrm>
            <a:off x="475488" y="960120"/>
            <a:ext cx="11237976" cy="0"/>
          </a:xfrm>
          <a:prstGeom prst="line">
            <a:avLst/>
          </a:prstGeom>
          <a:ln w="12700">
            <a:solidFill>
              <a:srgbClr val="D6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aper legend marker 1"/>
          <p:cNvSpPr/>
          <p:nvPr/>
        </p:nvSpPr>
        <p:spPr>
          <a:xfrm>
            <a:off x="8686800" y="667512"/>
            <a:ext cx="82296" cy="82296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per legend text 1"/>
          <p:cNvSpPr txBox="1"/>
          <p:nvPr/>
        </p:nvSpPr>
        <p:spPr>
          <a:xfrm>
            <a:off x="8805672" y="626364"/>
            <a:ext cx="9326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87581"/>
                </a:solidFill>
                <a:latin typeface="Noto Sans"/>
              </a:rPr>
              <a:t>observations &amp; geometry</a:t>
            </a:r>
          </a:p>
        </p:txBody>
      </p:sp>
      <p:sp>
        <p:nvSpPr>
          <p:cNvPr id="7" name="Paper legend marker 2"/>
          <p:cNvSpPr/>
          <p:nvPr/>
        </p:nvSpPr>
        <p:spPr>
          <a:xfrm>
            <a:off x="9784080" y="667512"/>
            <a:ext cx="82296" cy="82296"/>
          </a:xfrm>
          <a:prstGeom prst="ellipse">
            <a:avLst/>
          </a:prstGeom>
          <a:solidFill>
            <a:srgbClr val="C86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per legend text 2"/>
          <p:cNvSpPr txBox="1"/>
          <p:nvPr/>
        </p:nvSpPr>
        <p:spPr>
          <a:xfrm>
            <a:off x="9902952" y="626364"/>
            <a:ext cx="9326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87581"/>
                </a:solidFill>
                <a:latin typeface="Noto Sans"/>
              </a:rPr>
              <a:t>restoration</a:t>
            </a:r>
          </a:p>
        </p:txBody>
      </p:sp>
      <p:sp>
        <p:nvSpPr>
          <p:cNvPr id="9" name="Paper legend marker 3"/>
          <p:cNvSpPr/>
          <p:nvPr/>
        </p:nvSpPr>
        <p:spPr>
          <a:xfrm>
            <a:off x="10716768" y="667512"/>
            <a:ext cx="82296" cy="82296"/>
          </a:xfrm>
          <a:prstGeom prst="ellipse">
            <a:avLst/>
          </a:prstGeom>
          <a:solidFill>
            <a:srgbClr val="2D7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per legend text 3"/>
          <p:cNvSpPr txBox="1"/>
          <p:nvPr/>
        </p:nvSpPr>
        <p:spPr>
          <a:xfrm>
            <a:off x="10835640" y="626364"/>
            <a:ext cx="9326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87581"/>
                </a:solidFill>
                <a:latin typeface="Noto Sans"/>
              </a:rPr>
              <a:t>3D feedback</a:t>
            </a:r>
          </a:p>
        </p:txBody>
      </p:sp>
      <p:sp>
        <p:nvSpPr>
          <p:cNvPr id="11" name="Paper capture section label"/>
          <p:cNvSpPr txBox="1"/>
          <p:nvPr/>
        </p:nvSpPr>
        <p:spPr>
          <a:xfrm>
            <a:off x="384048" y="106984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E6697"/>
                </a:solidFill>
                <a:latin typeface="Noto Sans"/>
              </a:rPr>
              <a:t>CAPTURE &amp; RECONSTRUCTION</a:t>
            </a:r>
          </a:p>
        </p:txBody>
      </p:sp>
      <p:sp>
        <p:nvSpPr>
          <p:cNvPr id="12" name="Paper loop section label"/>
          <p:cNvSpPr txBox="1"/>
          <p:nvPr/>
        </p:nvSpPr>
        <p:spPr>
          <a:xfrm>
            <a:off x="3090672" y="1069848"/>
            <a:ext cx="5138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D7464"/>
                </a:solidFill>
                <a:latin typeface="Noto Sans"/>
              </a:rPr>
              <a:t>RENDER–RESTORE–DISTILL</a:t>
            </a:r>
          </a:p>
        </p:txBody>
      </p:sp>
      <p:sp>
        <p:nvSpPr>
          <p:cNvPr id="13" name="Paper synthesis section label"/>
          <p:cNvSpPr txBox="1"/>
          <p:nvPr/>
        </p:nvSpPr>
        <p:spPr>
          <a:xfrm>
            <a:off x="8266175" y="1069848"/>
            <a:ext cx="37307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E6697"/>
                </a:solidFill>
                <a:latin typeface="Noto Sans"/>
              </a:rPr>
              <a:t>PANORAMIC SYNTHESIS</a:t>
            </a:r>
          </a:p>
        </p:txBody>
      </p:sp>
      <p:sp>
        <p:nvSpPr>
          <p:cNvPr id="14" name="Paper input video backing frame 1"/>
          <p:cNvSpPr/>
          <p:nvPr/>
        </p:nvSpPr>
        <p:spPr>
          <a:xfrm>
            <a:off x="457200" y="1856231"/>
            <a:ext cx="1005840" cy="621792"/>
          </a:xfrm>
          <a:prstGeom prst="rect">
            <a:avLst/>
          </a:prstGeom>
          <a:solidFill>
            <a:srgbClr val="E8EDF1"/>
          </a:solidFill>
          <a:ln w="11430">
            <a:solidFill>
              <a:srgbClr val="B8C5CE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per input video backing frame 2"/>
          <p:cNvSpPr/>
          <p:nvPr/>
        </p:nvSpPr>
        <p:spPr>
          <a:xfrm>
            <a:off x="502920" y="1810512"/>
            <a:ext cx="1005840" cy="621792"/>
          </a:xfrm>
          <a:prstGeom prst="rect">
            <a:avLst/>
          </a:prstGeom>
          <a:solidFill>
            <a:srgbClr val="F1F4F6"/>
          </a:solidFill>
          <a:ln w="11430">
            <a:solidFill>
              <a:srgbClr val="B8C5CE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aper input pinhole video frame" descr="framework_input_video_figur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764792"/>
            <a:ext cx="1005840" cy="621792"/>
          </a:xfrm>
          <a:prstGeom prst="rect">
            <a:avLst/>
          </a:prstGeom>
        </p:spPr>
      </p:pic>
      <p:sp>
        <p:nvSpPr>
          <p:cNvPr id="17" name="Paper input pinhole video outline"/>
          <p:cNvSpPr/>
          <p:nvPr/>
        </p:nvSpPr>
        <p:spPr>
          <a:xfrm>
            <a:off x="548640" y="1764792"/>
            <a:ext cx="1005840" cy="621792"/>
          </a:xfrm>
          <a:prstGeom prst="rect">
            <a:avLst/>
          </a:prstGeom>
          <a:noFill/>
          <a:ln w="12700">
            <a:solidFill>
              <a:srgbClr val="9AAA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per input pinhole video label"/>
          <p:cNvSpPr txBox="1"/>
          <p:nvPr/>
        </p:nvSpPr>
        <p:spPr>
          <a:xfrm>
            <a:off x="393192" y="2523744"/>
            <a:ext cx="131673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5212B"/>
                </a:solidFill>
                <a:latin typeface="Noto Sans"/>
              </a:rPr>
              <a:t>Pinhole input video</a:t>
            </a:r>
          </a:p>
        </p:txBody>
      </p:sp>
      <p:cxnSp>
        <p:nvCxnSpPr>
          <p:cNvPr id="19" name="Paper input video to frame extraction arrow"/>
          <p:cNvCxnSpPr/>
          <p:nvPr/>
        </p:nvCxnSpPr>
        <p:spPr>
          <a:xfrm>
            <a:off x="1627632" y="2075688"/>
            <a:ext cx="274320" cy="0"/>
          </a:xfrm>
          <a:prstGeom prst="line">
            <a:avLst/>
          </a:prstGeom>
          <a:ln w="22860">
            <a:solidFill>
              <a:srgbClr val="2E66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aper frame extraction panel"/>
          <p:cNvSpPr/>
          <p:nvPr/>
        </p:nvSpPr>
        <p:spPr>
          <a:xfrm>
            <a:off x="1938528" y="1664208"/>
            <a:ext cx="868680" cy="822960"/>
          </a:xfrm>
          <a:prstGeom prst="rect">
            <a:avLst/>
          </a:prstGeom>
          <a:solidFill>
            <a:srgbClr val="E7F0F8"/>
          </a:solidFill>
          <a:ln w="12700">
            <a:solidFill>
              <a:srgbClr val="AFC6D8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per extracted frame icon 1"/>
          <p:cNvSpPr/>
          <p:nvPr/>
        </p:nvSpPr>
        <p:spPr>
          <a:xfrm>
            <a:off x="2093976" y="1810512"/>
            <a:ext cx="393192" cy="246888"/>
          </a:xfrm>
          <a:prstGeom prst="rect">
            <a:avLst/>
          </a:prstGeom>
          <a:solidFill>
            <a:srgbClr val="FFFFFF"/>
          </a:solidFill>
          <a:ln w="10160">
            <a:solidFill>
              <a:srgbClr val="92ACC0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per extracted frame icon 2"/>
          <p:cNvSpPr/>
          <p:nvPr/>
        </p:nvSpPr>
        <p:spPr>
          <a:xfrm>
            <a:off x="2157984" y="1874519"/>
            <a:ext cx="393192" cy="246888"/>
          </a:xfrm>
          <a:prstGeom prst="rect">
            <a:avLst/>
          </a:prstGeom>
          <a:solidFill>
            <a:srgbClr val="FFFFFF"/>
          </a:solidFill>
          <a:ln w="10160">
            <a:solidFill>
              <a:srgbClr val="92ACC0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per extracted frame icon 3"/>
          <p:cNvSpPr/>
          <p:nvPr/>
        </p:nvSpPr>
        <p:spPr>
          <a:xfrm>
            <a:off x="2221992" y="1938528"/>
            <a:ext cx="393192" cy="246888"/>
          </a:xfrm>
          <a:prstGeom prst="rect">
            <a:avLst/>
          </a:prstGeom>
          <a:solidFill>
            <a:srgbClr val="FFFFFF"/>
          </a:solidFill>
          <a:ln w="10160">
            <a:solidFill>
              <a:srgbClr val="92ACC0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per frame extraction label"/>
          <p:cNvSpPr txBox="1"/>
          <p:nvPr/>
        </p:nvSpPr>
        <p:spPr>
          <a:xfrm>
            <a:off x="1984248" y="2194560"/>
            <a:ext cx="777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E6697"/>
                </a:solidFill>
                <a:latin typeface="Noto Sans"/>
              </a:rPr>
              <a:t>Frame
extraction</a:t>
            </a:r>
          </a:p>
        </p:txBody>
      </p:sp>
      <p:cxnSp>
        <p:nvCxnSpPr>
          <p:cNvPr id="25" name="Paper frame extraction to COLMAP arrow"/>
          <p:cNvCxnSpPr/>
          <p:nvPr/>
        </p:nvCxnSpPr>
        <p:spPr>
          <a:xfrm>
            <a:off x="2377440" y="2569464"/>
            <a:ext cx="0" cy="292608"/>
          </a:xfrm>
          <a:prstGeom prst="line">
            <a:avLst/>
          </a:prstGeom>
          <a:ln w="22860">
            <a:solidFill>
              <a:srgbClr val="2E66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aper COLMAP panel"/>
          <p:cNvSpPr/>
          <p:nvPr/>
        </p:nvSpPr>
        <p:spPr>
          <a:xfrm>
            <a:off x="1645920" y="2907792"/>
            <a:ext cx="1463040" cy="841248"/>
          </a:xfrm>
          <a:prstGeom prst="rect">
            <a:avLst/>
          </a:prstGeom>
          <a:solidFill>
            <a:srgbClr val="E7F0F8"/>
          </a:solidFill>
          <a:ln w="12700">
            <a:solidFill>
              <a:srgbClr val="AFC6D8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per COLMAP heading"/>
          <p:cNvSpPr txBox="1"/>
          <p:nvPr/>
        </p:nvSpPr>
        <p:spPr>
          <a:xfrm>
            <a:off x="1792224" y="3054096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2E6697"/>
                </a:solidFill>
                <a:latin typeface="Noto Sans"/>
              </a:rPr>
              <a:t>COLMAP</a:t>
            </a:r>
          </a:p>
        </p:txBody>
      </p:sp>
      <p:sp>
        <p:nvSpPr>
          <p:cNvPr id="28" name="Paper COLMAP caption"/>
          <p:cNvSpPr txBox="1"/>
          <p:nvPr/>
        </p:nvSpPr>
        <p:spPr>
          <a:xfrm>
            <a:off x="1764792" y="3310128"/>
            <a:ext cx="12252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87581"/>
                </a:solidFill>
                <a:latin typeface="Noto Sans"/>
              </a:rPr>
              <a:t>intrinsics · camera poses
sparse geometry</a:t>
            </a:r>
          </a:p>
        </p:txBody>
      </p:sp>
      <p:cxnSp>
        <p:nvCxnSpPr>
          <p:cNvPr id="29" name="Paper COLMAP to posed frames arrow"/>
          <p:cNvCxnSpPr/>
          <p:nvPr/>
        </p:nvCxnSpPr>
        <p:spPr>
          <a:xfrm>
            <a:off x="2377440" y="3776472"/>
            <a:ext cx="0" cy="274319"/>
          </a:xfrm>
          <a:prstGeom prst="line">
            <a:avLst/>
          </a:prstGeom>
          <a:ln w="22860">
            <a:solidFill>
              <a:srgbClr val="2E66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aper posed real frames panel"/>
          <p:cNvSpPr/>
          <p:nvPr/>
        </p:nvSpPr>
        <p:spPr>
          <a:xfrm>
            <a:off x="1463040" y="4096512"/>
            <a:ext cx="1828800" cy="713232"/>
          </a:xfrm>
          <a:prstGeom prst="rect">
            <a:avLst/>
          </a:prstGeom>
          <a:solidFill>
            <a:srgbClr val="F8FBFD"/>
          </a:solidFill>
          <a:ln w="12700">
            <a:solidFill>
              <a:srgbClr val="AFC6D8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per posed real frame icon 1"/>
          <p:cNvSpPr/>
          <p:nvPr/>
        </p:nvSpPr>
        <p:spPr>
          <a:xfrm>
            <a:off x="1618488" y="4251960"/>
            <a:ext cx="347472" cy="228600"/>
          </a:xfrm>
          <a:prstGeom prst="rect">
            <a:avLst/>
          </a:prstGeom>
          <a:solidFill>
            <a:srgbClr val="E7F0F8"/>
          </a:solidFill>
          <a:ln w="8890">
            <a:solidFill>
              <a:srgbClr val="92ACC0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per posed real frame icon 2"/>
          <p:cNvSpPr/>
          <p:nvPr/>
        </p:nvSpPr>
        <p:spPr>
          <a:xfrm>
            <a:off x="1682496" y="4297680"/>
            <a:ext cx="347472" cy="228600"/>
          </a:xfrm>
          <a:prstGeom prst="rect">
            <a:avLst/>
          </a:prstGeom>
          <a:solidFill>
            <a:srgbClr val="E7F0F8"/>
          </a:solidFill>
          <a:ln w="8890">
            <a:solidFill>
              <a:srgbClr val="92ACC0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per posed real frame icon 3"/>
          <p:cNvSpPr/>
          <p:nvPr/>
        </p:nvSpPr>
        <p:spPr>
          <a:xfrm>
            <a:off x="1746504" y="4343400"/>
            <a:ext cx="347472" cy="228600"/>
          </a:xfrm>
          <a:prstGeom prst="rect">
            <a:avLst/>
          </a:prstGeom>
          <a:solidFill>
            <a:srgbClr val="E7F0F8"/>
          </a:solidFill>
          <a:ln w="8890">
            <a:solidFill>
              <a:srgbClr val="92ACC0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per posed real frames label"/>
          <p:cNvSpPr txBox="1"/>
          <p:nvPr/>
        </p:nvSpPr>
        <p:spPr>
          <a:xfrm>
            <a:off x="2130552" y="4224528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697"/>
                </a:solidFill>
                <a:latin typeface="Noto Sans"/>
              </a:rPr>
              <a:t>Posed real frames</a:t>
            </a:r>
          </a:p>
        </p:txBody>
      </p:sp>
      <p:sp>
        <p:nvSpPr>
          <p:cNvPr id="35" name="Paper posed real frames caption"/>
          <p:cNvSpPr txBox="1"/>
          <p:nvPr/>
        </p:nvSpPr>
        <p:spPr>
          <a:xfrm>
            <a:off x="2057400" y="447141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87581"/>
                </a:solidFill>
                <a:latin typeface="Noto Sans"/>
              </a:rPr>
              <a:t>observations + calibrated cameras</a:t>
            </a:r>
          </a:p>
        </p:txBody>
      </p:sp>
      <p:cxnSp>
        <p:nvCxnSpPr>
          <p:cNvPr id="36" name="Paper posed frames to initial scene arrow"/>
          <p:cNvCxnSpPr/>
          <p:nvPr/>
        </p:nvCxnSpPr>
        <p:spPr>
          <a:xfrm>
            <a:off x="2377440" y="4837176"/>
            <a:ext cx="0" cy="256032"/>
          </a:xfrm>
          <a:prstGeom prst="line">
            <a:avLst/>
          </a:prstGeom>
          <a:ln w="22860">
            <a:solidFill>
              <a:srgbClr val="2E66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aper initial 3DGRUT panel"/>
          <p:cNvSpPr/>
          <p:nvPr/>
        </p:nvSpPr>
        <p:spPr>
          <a:xfrm>
            <a:off x="1490472" y="5138928"/>
            <a:ext cx="1773936" cy="804672"/>
          </a:xfrm>
          <a:prstGeom prst="rect">
            <a:avLst/>
          </a:prstGeom>
          <a:solidFill>
            <a:srgbClr val="E7F0F8"/>
          </a:solidFill>
          <a:ln w="15875">
            <a:solidFill>
              <a:srgbClr val="2E6697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per initial Gaussian point 1"/>
          <p:cNvSpPr/>
          <p:nvPr/>
        </p:nvSpPr>
        <p:spPr>
          <a:xfrm>
            <a:off x="1682496" y="5394960"/>
            <a:ext cx="82296" cy="82296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per initial Gaussian point 2"/>
          <p:cNvSpPr/>
          <p:nvPr/>
        </p:nvSpPr>
        <p:spPr>
          <a:xfrm>
            <a:off x="1847088" y="5285232"/>
            <a:ext cx="64008" cy="64008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per initial Gaussian point 3"/>
          <p:cNvSpPr/>
          <p:nvPr/>
        </p:nvSpPr>
        <p:spPr>
          <a:xfrm>
            <a:off x="1984248" y="5495544"/>
            <a:ext cx="100584" cy="100584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per initial Gaussian point 4"/>
          <p:cNvSpPr/>
          <p:nvPr/>
        </p:nvSpPr>
        <p:spPr>
          <a:xfrm>
            <a:off x="2157984" y="5321808"/>
            <a:ext cx="73152" cy="73152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per initial Gaussian point 5"/>
          <p:cNvSpPr/>
          <p:nvPr/>
        </p:nvSpPr>
        <p:spPr>
          <a:xfrm>
            <a:off x="2313432" y="5513832"/>
            <a:ext cx="64008" cy="64008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per initial Gaussian point 6"/>
          <p:cNvSpPr/>
          <p:nvPr/>
        </p:nvSpPr>
        <p:spPr>
          <a:xfrm>
            <a:off x="2459736" y="5349240"/>
            <a:ext cx="91440" cy="91440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per initial Gaussian point 7"/>
          <p:cNvSpPr/>
          <p:nvPr/>
        </p:nvSpPr>
        <p:spPr>
          <a:xfrm>
            <a:off x="2633472" y="5486400"/>
            <a:ext cx="73152" cy="73152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per initial Gaussian point 8"/>
          <p:cNvSpPr/>
          <p:nvPr/>
        </p:nvSpPr>
        <p:spPr>
          <a:xfrm>
            <a:off x="2761488" y="5303520"/>
            <a:ext cx="54864" cy="54864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per initial 3DGRUT label"/>
          <p:cNvSpPr txBox="1"/>
          <p:nvPr/>
        </p:nvSpPr>
        <p:spPr>
          <a:xfrm>
            <a:off x="1600200" y="559612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2E6697"/>
                </a:solidFill>
                <a:latin typeface="Noto Sans"/>
              </a:rPr>
              <a:t>Initial 3DGRUT /
3D Gaussian Scene</a:t>
            </a:r>
          </a:p>
        </p:txBody>
      </p:sp>
      <p:cxnSp>
        <p:nvCxnSpPr>
          <p:cNvPr id="47" name="Paper initial scene to shared scene arrow"/>
          <p:cNvCxnSpPr/>
          <p:nvPr/>
        </p:nvCxnSpPr>
        <p:spPr>
          <a:xfrm>
            <a:off x="3300984" y="5541264"/>
            <a:ext cx="256032" cy="0"/>
          </a:xfrm>
          <a:prstGeom prst="line">
            <a:avLst/>
          </a:prstGeom>
          <a:ln w="25400">
            <a:solidFill>
              <a:srgbClr val="2E66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Paper shared 3D Gaussian scene panel"/>
          <p:cNvSpPr/>
          <p:nvPr/>
        </p:nvSpPr>
        <p:spPr>
          <a:xfrm>
            <a:off x="3602736" y="5010912"/>
            <a:ext cx="1499616" cy="1060704"/>
          </a:xfrm>
          <a:prstGeom prst="rect">
            <a:avLst/>
          </a:prstGeom>
          <a:solidFill>
            <a:srgbClr val="E7F0F8"/>
          </a:solidFill>
          <a:ln w="17145">
            <a:solidFill>
              <a:srgbClr val="2E6697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per shared Gaussian point 1"/>
          <p:cNvSpPr/>
          <p:nvPr/>
        </p:nvSpPr>
        <p:spPr>
          <a:xfrm>
            <a:off x="3822191" y="5257800"/>
            <a:ext cx="91440" cy="91440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per shared Gaussian point 2"/>
          <p:cNvSpPr/>
          <p:nvPr/>
        </p:nvSpPr>
        <p:spPr>
          <a:xfrm>
            <a:off x="3995928" y="5148072"/>
            <a:ext cx="64008" cy="64008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per shared Gaussian point 3"/>
          <p:cNvSpPr/>
          <p:nvPr/>
        </p:nvSpPr>
        <p:spPr>
          <a:xfrm>
            <a:off x="4133087" y="5358384"/>
            <a:ext cx="109728" cy="109728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per shared Gaussian point 4"/>
          <p:cNvSpPr/>
          <p:nvPr/>
        </p:nvSpPr>
        <p:spPr>
          <a:xfrm>
            <a:off x="4325112" y="5184648"/>
            <a:ext cx="73152" cy="73152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aper shared Gaussian point 5"/>
          <p:cNvSpPr/>
          <p:nvPr/>
        </p:nvSpPr>
        <p:spPr>
          <a:xfrm>
            <a:off x="4471416" y="5385816"/>
            <a:ext cx="64008" cy="64008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per shared Gaussian point 6"/>
          <p:cNvSpPr/>
          <p:nvPr/>
        </p:nvSpPr>
        <p:spPr>
          <a:xfrm>
            <a:off x="4626864" y="5212080"/>
            <a:ext cx="100584" cy="100584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per shared Gaussian point 7"/>
          <p:cNvSpPr/>
          <p:nvPr/>
        </p:nvSpPr>
        <p:spPr>
          <a:xfrm>
            <a:off x="4791456" y="5349240"/>
            <a:ext cx="73152" cy="73152"/>
          </a:xfrm>
          <a:prstGeom prst="ellipse">
            <a:avLst/>
          </a:prstGeom>
          <a:solidFill>
            <a:srgbClr val="2E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per shared 3D Gaussian scene heading"/>
          <p:cNvSpPr txBox="1"/>
          <p:nvPr/>
        </p:nvSpPr>
        <p:spPr>
          <a:xfrm>
            <a:off x="3712463" y="5559552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6697"/>
                </a:solidFill>
                <a:latin typeface="Noto Sans"/>
              </a:rPr>
              <a:t>Shared 3D
Gaussian Scene</a:t>
            </a:r>
          </a:p>
        </p:txBody>
      </p:sp>
      <p:cxnSp>
        <p:nvCxnSpPr>
          <p:cNvPr id="57" name="Paper shared scene to multi-direction renders arrow"/>
          <p:cNvCxnSpPr/>
          <p:nvPr/>
        </p:nvCxnSpPr>
        <p:spPr>
          <a:xfrm flipV="1">
            <a:off x="4352544" y="3273552"/>
            <a:ext cx="0" cy="1709928"/>
          </a:xfrm>
          <a:prstGeom prst="line">
            <a:avLst/>
          </a:prstGeom>
          <a:ln w="25400">
            <a:solidFill>
              <a:srgbClr val="2E66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aper same camera centres label"/>
          <p:cNvSpPr txBox="1"/>
          <p:nvPr/>
        </p:nvSpPr>
        <p:spPr>
          <a:xfrm>
            <a:off x="4443984" y="4114800"/>
            <a:ext cx="103327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E6697"/>
                </a:solidFill>
                <a:latin typeface="Noto Sans"/>
              </a:rPr>
              <a:t>same camera centres</a:t>
            </a:r>
          </a:p>
        </p:txBody>
      </p:sp>
      <p:sp>
        <p:nvSpPr>
          <p:cNvPr id="59" name="Paper spherical snake panel"/>
          <p:cNvSpPr/>
          <p:nvPr/>
        </p:nvSpPr>
        <p:spPr>
          <a:xfrm>
            <a:off x="3447288" y="1481328"/>
            <a:ext cx="2029968" cy="1719072"/>
          </a:xfrm>
          <a:prstGeom prst="rect">
            <a:avLst/>
          </a:prstGeom>
          <a:solidFill>
            <a:srgbClr val="F8FBFD"/>
          </a:solidFill>
          <a:ln w="12700">
            <a:solidFill>
              <a:srgbClr val="AFC6D8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per multi-direction renders heading"/>
          <p:cNvSpPr txBox="1"/>
          <p:nvPr/>
        </p:nvSpPr>
        <p:spPr>
          <a:xfrm>
            <a:off x="3566160" y="1609344"/>
            <a:ext cx="17922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E6697"/>
                </a:solidFill>
                <a:latin typeface="Noto Sans"/>
              </a:rPr>
              <a:t>World-locked overlapping
pinhole renders</a:t>
            </a:r>
          </a:p>
        </p:txBody>
      </p:sp>
      <p:cxnSp>
        <p:nvCxnSpPr>
          <p:cNvPr id="61" name="Paper spherical snake track segment 1"/>
          <p:cNvCxnSpPr/>
          <p:nvPr/>
        </p:nvCxnSpPr>
        <p:spPr>
          <a:xfrm flipV="1">
            <a:off x="3675887" y="2103120"/>
            <a:ext cx="237745" cy="228600"/>
          </a:xfrm>
          <a:prstGeom prst="line">
            <a:avLst/>
          </a:prstGeom>
          <a:ln w="14604">
            <a:solidFill>
              <a:srgbClr val="2E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Paper spherical snake track segment 2"/>
          <p:cNvCxnSpPr/>
          <p:nvPr/>
        </p:nvCxnSpPr>
        <p:spPr>
          <a:xfrm flipV="1">
            <a:off x="3913632" y="2011680"/>
            <a:ext cx="310896" cy="91440"/>
          </a:xfrm>
          <a:prstGeom prst="line">
            <a:avLst/>
          </a:prstGeom>
          <a:ln w="14604">
            <a:solidFill>
              <a:srgbClr val="2E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Paper spherical snake track segment 3"/>
          <p:cNvCxnSpPr/>
          <p:nvPr/>
        </p:nvCxnSpPr>
        <p:spPr>
          <a:xfrm>
            <a:off x="4224528" y="2011680"/>
            <a:ext cx="329184" cy="64008"/>
          </a:xfrm>
          <a:prstGeom prst="line">
            <a:avLst/>
          </a:prstGeom>
          <a:ln w="14604">
            <a:solidFill>
              <a:srgbClr val="2E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Paper spherical snake track segment 4"/>
          <p:cNvCxnSpPr/>
          <p:nvPr/>
        </p:nvCxnSpPr>
        <p:spPr>
          <a:xfrm>
            <a:off x="4553712" y="2075688"/>
            <a:ext cx="320040" cy="201168"/>
          </a:xfrm>
          <a:prstGeom prst="line">
            <a:avLst/>
          </a:prstGeom>
          <a:ln w="14604">
            <a:solidFill>
              <a:srgbClr val="2E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aper spherical snake track segment 5"/>
          <p:cNvCxnSpPr/>
          <p:nvPr/>
        </p:nvCxnSpPr>
        <p:spPr>
          <a:xfrm>
            <a:off x="4873752" y="2276856"/>
            <a:ext cx="310896" cy="210312"/>
          </a:xfrm>
          <a:prstGeom prst="line">
            <a:avLst/>
          </a:prstGeom>
          <a:ln w="14604">
            <a:solidFill>
              <a:srgbClr val="2E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Paper spherical snake track segment 6"/>
          <p:cNvCxnSpPr/>
          <p:nvPr/>
        </p:nvCxnSpPr>
        <p:spPr>
          <a:xfrm>
            <a:off x="5184648" y="2487168"/>
            <a:ext cx="73152" cy="237744"/>
          </a:xfrm>
          <a:prstGeom prst="line">
            <a:avLst/>
          </a:prstGeom>
          <a:ln w="14604">
            <a:solidFill>
              <a:srgbClr val="2E66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Paper overlapping pinhole frustum 1"/>
          <p:cNvSpPr/>
          <p:nvPr/>
        </p:nvSpPr>
        <p:spPr>
          <a:xfrm rot="4320000">
            <a:off x="3712463" y="2176272"/>
            <a:ext cx="256032" cy="201168"/>
          </a:xfrm>
          <a:prstGeom prst="triangle">
            <a:avLst/>
          </a:prstGeom>
          <a:solidFill>
            <a:srgbClr val="E7F0F8"/>
          </a:solidFill>
          <a:ln w="11430">
            <a:solidFill>
              <a:srgbClr val="2E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per overlapping pinhole frustum 2"/>
          <p:cNvSpPr/>
          <p:nvPr/>
        </p:nvSpPr>
        <p:spPr>
          <a:xfrm rot="5100000">
            <a:off x="4032504" y="1984248"/>
            <a:ext cx="256032" cy="201168"/>
          </a:xfrm>
          <a:prstGeom prst="triangle">
            <a:avLst/>
          </a:prstGeom>
          <a:solidFill>
            <a:srgbClr val="E7F0F8"/>
          </a:solidFill>
          <a:ln w="11430">
            <a:solidFill>
              <a:srgbClr val="2E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aper overlapping pinhole frustum 3"/>
          <p:cNvSpPr/>
          <p:nvPr/>
        </p:nvSpPr>
        <p:spPr>
          <a:xfrm rot="6240000">
            <a:off x="4407408" y="2011680"/>
            <a:ext cx="256032" cy="201168"/>
          </a:xfrm>
          <a:prstGeom prst="triangle">
            <a:avLst/>
          </a:prstGeom>
          <a:solidFill>
            <a:srgbClr val="E7F0F8"/>
          </a:solidFill>
          <a:ln w="11430">
            <a:solidFill>
              <a:srgbClr val="2E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aper overlapping pinhole frustum 4"/>
          <p:cNvSpPr/>
          <p:nvPr/>
        </p:nvSpPr>
        <p:spPr>
          <a:xfrm rot="7260000">
            <a:off x="4773168" y="2212848"/>
            <a:ext cx="256032" cy="201168"/>
          </a:xfrm>
          <a:prstGeom prst="triangle">
            <a:avLst/>
          </a:prstGeom>
          <a:solidFill>
            <a:srgbClr val="E7F0F8"/>
          </a:solidFill>
          <a:ln w="11430">
            <a:solidFill>
              <a:srgbClr val="2E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per overlapping pinhole frustum 5"/>
          <p:cNvSpPr/>
          <p:nvPr/>
        </p:nvSpPr>
        <p:spPr>
          <a:xfrm rot="8460000">
            <a:off x="5093208" y="2459736"/>
            <a:ext cx="256032" cy="201168"/>
          </a:xfrm>
          <a:prstGeom prst="triangle">
            <a:avLst/>
          </a:prstGeom>
          <a:solidFill>
            <a:srgbClr val="E7F0F8"/>
          </a:solidFill>
          <a:ln w="11430">
            <a:solidFill>
              <a:srgbClr val="2E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Paper spherical snake caption"/>
          <p:cNvSpPr txBox="1"/>
          <p:nvPr/>
        </p:nvSpPr>
        <p:spPr>
          <a:xfrm>
            <a:off x="3575304" y="2862072"/>
            <a:ext cx="1773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687581"/>
                </a:solidFill>
                <a:latin typeface="Noto Sans"/>
              </a:rPr>
              <a:t>spherical snake: stable directions + smooth turns</a:t>
            </a:r>
          </a:p>
        </p:txBody>
      </p:sp>
      <p:cxnSp>
        <p:nvCxnSpPr>
          <p:cNvPr id="73" name="Paper spherical snake to ArtiFixer arrow"/>
          <p:cNvCxnSpPr/>
          <p:nvPr/>
        </p:nvCxnSpPr>
        <p:spPr>
          <a:xfrm>
            <a:off x="5513832" y="2331720"/>
            <a:ext cx="256032" cy="0"/>
          </a:xfrm>
          <a:prstGeom prst="line">
            <a:avLst/>
          </a:prstGeom>
          <a:ln w="25400">
            <a:solidFill>
              <a:srgbClr val="C86F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Paper ArtiFixer panel"/>
          <p:cNvSpPr/>
          <p:nvPr/>
        </p:nvSpPr>
        <p:spPr>
          <a:xfrm>
            <a:off x="5815584" y="1755648"/>
            <a:ext cx="1307592" cy="1152144"/>
          </a:xfrm>
          <a:prstGeom prst="rect">
            <a:avLst/>
          </a:prstGeom>
          <a:solidFill>
            <a:srgbClr val="FFF1E3"/>
          </a:solidFill>
          <a:ln w="17145">
            <a:solidFill>
              <a:srgbClr val="C86F18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Paper ArtiFixer heading"/>
          <p:cNvSpPr txBox="1"/>
          <p:nvPr/>
        </p:nvSpPr>
        <p:spPr>
          <a:xfrm>
            <a:off x="5971032" y="1938528"/>
            <a:ext cx="996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C86F18"/>
                </a:solidFill>
                <a:latin typeface="Noto Sans"/>
              </a:rPr>
              <a:t>ArtiFixer</a:t>
            </a:r>
          </a:p>
        </p:txBody>
      </p:sp>
      <p:sp>
        <p:nvSpPr>
          <p:cNvPr id="76" name="Paper ArtiFixer video label"/>
          <p:cNvSpPr txBox="1"/>
          <p:nvPr/>
        </p:nvSpPr>
        <p:spPr>
          <a:xfrm>
            <a:off x="5943600" y="226771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6F18"/>
                </a:solidFill>
                <a:latin typeface="Noto Sans"/>
              </a:rPr>
              <a:t>video-to-video</a:t>
            </a:r>
          </a:p>
        </p:txBody>
      </p:sp>
      <p:sp>
        <p:nvSpPr>
          <p:cNvPr id="77" name="Paper ArtiFixer common stream caption"/>
          <p:cNvSpPr txBox="1"/>
          <p:nvPr/>
        </p:nvSpPr>
        <p:spPr>
          <a:xfrm>
            <a:off x="5916168" y="2523744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87581"/>
                </a:solidFill>
                <a:latin typeface="Noto Sans"/>
              </a:rPr>
              <a:t>one common temporal stream</a:t>
            </a:r>
          </a:p>
        </p:txBody>
      </p:sp>
      <p:cxnSp>
        <p:nvCxnSpPr>
          <p:cNvPr id="78" name="Paper ArtiFixer to restored observations arrow"/>
          <p:cNvCxnSpPr/>
          <p:nvPr/>
        </p:nvCxnSpPr>
        <p:spPr>
          <a:xfrm>
            <a:off x="7159752" y="2331720"/>
            <a:ext cx="256031" cy="0"/>
          </a:xfrm>
          <a:prstGeom prst="line">
            <a:avLst/>
          </a:prstGeom>
          <a:ln w="25400">
            <a:solidFill>
              <a:srgbClr val="C86F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Paper restored observations panel"/>
          <p:cNvSpPr/>
          <p:nvPr/>
        </p:nvSpPr>
        <p:spPr>
          <a:xfrm>
            <a:off x="7434072" y="1755648"/>
            <a:ext cx="1271016" cy="1152144"/>
          </a:xfrm>
          <a:prstGeom prst="rect">
            <a:avLst/>
          </a:prstGeom>
          <a:solidFill>
            <a:srgbClr val="FFF1E3"/>
          </a:solidFill>
          <a:ln w="15240">
            <a:solidFill>
              <a:srgbClr val="C86F18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Paper restored observation icon 1"/>
          <p:cNvSpPr/>
          <p:nvPr/>
        </p:nvSpPr>
        <p:spPr>
          <a:xfrm>
            <a:off x="7644383" y="1965960"/>
            <a:ext cx="475488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86F18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Paper restored observation icon 2"/>
          <p:cNvSpPr/>
          <p:nvPr/>
        </p:nvSpPr>
        <p:spPr>
          <a:xfrm>
            <a:off x="7708392" y="2029968"/>
            <a:ext cx="475488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86F18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Paper restored observation icon 3"/>
          <p:cNvSpPr/>
          <p:nvPr/>
        </p:nvSpPr>
        <p:spPr>
          <a:xfrm>
            <a:off x="7772400" y="2093976"/>
            <a:ext cx="475488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C86F18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Paper restored observations heading"/>
          <p:cNvSpPr txBox="1"/>
          <p:nvPr/>
        </p:nvSpPr>
        <p:spPr>
          <a:xfrm>
            <a:off x="7507224" y="2350008"/>
            <a:ext cx="112471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C86F18"/>
                </a:solidFill>
                <a:latin typeface="Noto Sans"/>
              </a:rPr>
              <a:t>Restored
pseudo-
observations</a:t>
            </a:r>
          </a:p>
        </p:txBody>
      </p:sp>
      <p:cxnSp>
        <p:nvCxnSpPr>
          <p:cNvPr id="84" name="Paper restored observations to distillation arrow"/>
          <p:cNvCxnSpPr/>
          <p:nvPr/>
        </p:nvCxnSpPr>
        <p:spPr>
          <a:xfrm>
            <a:off x="8065008" y="2944368"/>
            <a:ext cx="0" cy="804671"/>
          </a:xfrm>
          <a:prstGeom prst="line">
            <a:avLst/>
          </a:prstGeom>
          <a:ln w="25400">
            <a:solidFill>
              <a:srgbClr val="2D74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Paper ArtiFixer3D distillation panel"/>
          <p:cNvSpPr/>
          <p:nvPr/>
        </p:nvSpPr>
        <p:spPr>
          <a:xfrm>
            <a:off x="6126480" y="3794760"/>
            <a:ext cx="2532888" cy="1234440"/>
          </a:xfrm>
          <a:prstGeom prst="rect">
            <a:avLst/>
          </a:prstGeom>
          <a:solidFill>
            <a:srgbClr val="E6F1EE"/>
          </a:solidFill>
          <a:ln w="17145">
            <a:solidFill>
              <a:srgbClr val="2D7464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Paper ArtiFixer3D distillation heading"/>
          <p:cNvSpPr txBox="1"/>
          <p:nvPr/>
        </p:nvSpPr>
        <p:spPr>
          <a:xfrm>
            <a:off x="6318504" y="395935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2D7464"/>
                </a:solidFill>
                <a:latin typeface="Noto Sans"/>
              </a:rPr>
              <a:t>Geometry-constrained
ArtiFixer3D distillation</a:t>
            </a:r>
          </a:p>
        </p:txBody>
      </p:sp>
      <p:sp>
        <p:nvSpPr>
          <p:cNvPr id="87" name="Paper distillation consistency caption"/>
          <p:cNvSpPr txBox="1"/>
          <p:nvPr/>
        </p:nvSpPr>
        <p:spPr>
          <a:xfrm>
            <a:off x="6336792" y="4425696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D7464"/>
                </a:solidFill>
                <a:latin typeface="Noto Sans"/>
              </a:rPr>
              <a:t>depth + overlap consistency</a:t>
            </a:r>
          </a:p>
        </p:txBody>
      </p:sp>
      <p:sp>
        <p:nvSpPr>
          <p:cNvPr id="88" name="Paper geometry locked caption"/>
          <p:cNvSpPr txBox="1"/>
          <p:nvPr/>
        </p:nvSpPr>
        <p:spPr>
          <a:xfrm>
            <a:off x="6318504" y="469087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87581"/>
                </a:solidFill>
                <a:latin typeface="Noto Sans"/>
              </a:rPr>
              <a:t>geometry preserved · appearance refined</a:t>
            </a:r>
          </a:p>
        </p:txBody>
      </p:sp>
      <p:cxnSp>
        <p:nvCxnSpPr>
          <p:cNvPr id="89" name="Paper distillation feedback horizontal segment"/>
          <p:cNvCxnSpPr/>
          <p:nvPr/>
        </p:nvCxnSpPr>
        <p:spPr>
          <a:xfrm flipH="1">
            <a:off x="5449824" y="4416552"/>
            <a:ext cx="630936" cy="0"/>
          </a:xfrm>
          <a:prstGeom prst="line">
            <a:avLst/>
          </a:prstGeom>
          <a:ln w="25400">
            <a:solidFill>
              <a:srgbClr val="2D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Paper distillation feedback vertical segment"/>
          <p:cNvCxnSpPr/>
          <p:nvPr/>
        </p:nvCxnSpPr>
        <p:spPr>
          <a:xfrm>
            <a:off x="5449824" y="4416552"/>
            <a:ext cx="0" cy="1124712"/>
          </a:xfrm>
          <a:prstGeom prst="line">
            <a:avLst/>
          </a:prstGeom>
          <a:ln w="25400">
            <a:solidFill>
              <a:srgbClr val="2D7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Paper distillation feedback to shared scene arrow"/>
          <p:cNvCxnSpPr/>
          <p:nvPr/>
        </p:nvCxnSpPr>
        <p:spPr>
          <a:xfrm flipH="1">
            <a:off x="5129784" y="5541264"/>
            <a:ext cx="320040" cy="0"/>
          </a:xfrm>
          <a:prstGeom prst="line">
            <a:avLst/>
          </a:prstGeom>
          <a:ln w="25400">
            <a:solidFill>
              <a:srgbClr val="2D746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Paper 3D feedback label"/>
          <p:cNvSpPr txBox="1"/>
          <p:nvPr/>
        </p:nvSpPr>
        <p:spPr>
          <a:xfrm>
            <a:off x="5266944" y="4837176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7464"/>
                </a:solidFill>
                <a:latin typeface="Noto Sans"/>
              </a:rPr>
              <a:t>3D feedback</a:t>
            </a:r>
          </a:p>
        </p:txBody>
      </p:sp>
      <p:cxnSp>
        <p:nvCxnSpPr>
          <p:cNvPr id="93" name="Paper real anchor branch horizontal base"/>
          <p:cNvCxnSpPr/>
          <p:nvPr/>
        </p:nvCxnSpPr>
        <p:spPr>
          <a:xfrm>
            <a:off x="3319272" y="4453128"/>
            <a:ext cx="2231136" cy="0"/>
          </a:xfrm>
          <a:prstGeom prst="line">
            <a:avLst/>
          </a:prstGeom>
          <a:ln w="13335">
            <a:solidFill>
              <a:srgbClr val="2E669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Paper real anchor branch vertical rise"/>
          <p:cNvCxnSpPr/>
          <p:nvPr/>
        </p:nvCxnSpPr>
        <p:spPr>
          <a:xfrm flipV="1">
            <a:off x="5550408" y="1453896"/>
            <a:ext cx="0" cy="2999232"/>
          </a:xfrm>
          <a:prstGeom prst="line">
            <a:avLst/>
          </a:prstGeom>
          <a:ln w="13335">
            <a:solidFill>
              <a:srgbClr val="2E669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Paper real anchor branch to ArtiFixer horizontal"/>
          <p:cNvCxnSpPr/>
          <p:nvPr/>
        </p:nvCxnSpPr>
        <p:spPr>
          <a:xfrm>
            <a:off x="5550408" y="1453896"/>
            <a:ext cx="914400" cy="0"/>
          </a:xfrm>
          <a:prstGeom prst="line">
            <a:avLst/>
          </a:prstGeom>
          <a:ln w="13335">
            <a:solidFill>
              <a:srgbClr val="2E669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Paper real anchor branch to ArtiFixer arrow"/>
          <p:cNvCxnSpPr/>
          <p:nvPr/>
        </p:nvCxnSpPr>
        <p:spPr>
          <a:xfrm>
            <a:off x="6464808" y="1453896"/>
            <a:ext cx="0" cy="274320"/>
          </a:xfrm>
          <a:prstGeom prst="line">
            <a:avLst/>
          </a:prstGeom>
          <a:ln w="13335">
            <a:solidFill>
              <a:srgbClr val="2E6697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Paper real anchor branch to distillation arrow"/>
          <p:cNvCxnSpPr/>
          <p:nvPr/>
        </p:nvCxnSpPr>
        <p:spPr>
          <a:xfrm>
            <a:off x="5550408" y="4453128"/>
            <a:ext cx="548640" cy="0"/>
          </a:xfrm>
          <a:prstGeom prst="line">
            <a:avLst/>
          </a:prstGeom>
          <a:ln w="13335">
            <a:solidFill>
              <a:srgbClr val="2E6697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Paper real image anchors label background"/>
          <p:cNvSpPr/>
          <p:nvPr/>
        </p:nvSpPr>
        <p:spPr>
          <a:xfrm>
            <a:off x="4736592" y="4297680"/>
            <a:ext cx="1106424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Paper real image anchors label"/>
          <p:cNvSpPr txBox="1"/>
          <p:nvPr/>
        </p:nvSpPr>
        <p:spPr>
          <a:xfrm>
            <a:off x="4782312" y="4347972"/>
            <a:ext cx="10149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2E6697"/>
                </a:solidFill>
                <a:latin typeface="Noto Sans"/>
              </a:rPr>
              <a:t>real-image anchors</a:t>
            </a:r>
          </a:p>
        </p:txBody>
      </p:sp>
      <p:sp>
        <p:nvSpPr>
          <p:cNvPr id="100" name="Paper cross direction propagation caption"/>
          <p:cNvSpPr txBox="1"/>
          <p:nvPr/>
        </p:nvSpPr>
        <p:spPr>
          <a:xfrm>
            <a:off x="3721608" y="6254496"/>
            <a:ext cx="4745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87581"/>
                </a:solidFill>
                <a:latin typeface="Noto Sans"/>
              </a:rPr>
              <a:t>No native spherical topology: propagation comes from temporal continuity, overlap, and shared 3D feedback</a:t>
            </a:r>
          </a:p>
        </p:txBody>
      </p:sp>
      <p:cxnSp>
        <p:nvCxnSpPr>
          <p:cNvPr id="101" name="Paper refined scene to synthesis traverse"/>
          <p:cNvCxnSpPr/>
          <p:nvPr/>
        </p:nvCxnSpPr>
        <p:spPr>
          <a:xfrm>
            <a:off x="5129784" y="5541264"/>
            <a:ext cx="3657600" cy="0"/>
          </a:xfrm>
          <a:prstGeom prst="line">
            <a:avLst/>
          </a:prstGeom>
          <a:ln w="25400">
            <a:solidFill>
              <a:srgbClr val="2E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Paper refined scene to synchronized rendering arrow"/>
          <p:cNvCxnSpPr/>
          <p:nvPr/>
        </p:nvCxnSpPr>
        <p:spPr>
          <a:xfrm flipV="1">
            <a:off x="8787384" y="2304288"/>
            <a:ext cx="0" cy="3236976"/>
          </a:xfrm>
          <a:prstGeom prst="line">
            <a:avLst/>
          </a:prstGeom>
          <a:ln w="25400">
            <a:solidFill>
              <a:srgbClr val="2E66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Paper synchronized panoramic rendering panel"/>
          <p:cNvSpPr/>
          <p:nvPr/>
        </p:nvSpPr>
        <p:spPr>
          <a:xfrm>
            <a:off x="8851392" y="1517904"/>
            <a:ext cx="1170432" cy="1572768"/>
          </a:xfrm>
          <a:prstGeom prst="rect">
            <a:avLst/>
          </a:prstGeom>
          <a:solidFill>
            <a:srgbClr val="E7F0F8"/>
          </a:solidFill>
          <a:ln w="15240">
            <a:solidFill>
              <a:srgbClr val="2E6697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Paper synchronized pinhole view 1"/>
          <p:cNvSpPr/>
          <p:nvPr/>
        </p:nvSpPr>
        <p:spPr>
          <a:xfrm rot="21120000">
            <a:off x="9025128" y="1810512"/>
            <a:ext cx="42062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697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Paper synchronized pinhole view 2"/>
          <p:cNvSpPr/>
          <p:nvPr/>
        </p:nvSpPr>
        <p:spPr>
          <a:xfrm>
            <a:off x="9180576" y="1746504"/>
            <a:ext cx="42062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697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Paper synchronized pinhole view 3"/>
          <p:cNvSpPr/>
          <p:nvPr/>
        </p:nvSpPr>
        <p:spPr>
          <a:xfrm rot="480000">
            <a:off x="9336024" y="1819656"/>
            <a:ext cx="42062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2E6697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Paper synchronized panoramic rendering heading"/>
          <p:cNvSpPr txBox="1"/>
          <p:nvPr/>
        </p:nvSpPr>
        <p:spPr>
          <a:xfrm>
            <a:off x="8942832" y="2532888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E6697"/>
                </a:solidFill>
                <a:latin typeface="Noto Sans"/>
              </a:rPr>
              <a:t>Synchronized
panoramic rendering</a:t>
            </a:r>
          </a:p>
        </p:txBody>
      </p:sp>
      <p:cxnSp>
        <p:nvCxnSpPr>
          <p:cNvPr id="108" name="Paper synchronized rendering to final ArtiFixer3D plus arrow"/>
          <p:cNvCxnSpPr/>
          <p:nvPr/>
        </p:nvCxnSpPr>
        <p:spPr>
          <a:xfrm>
            <a:off x="10058400" y="2304288"/>
            <a:ext cx="256032" cy="0"/>
          </a:xfrm>
          <a:prstGeom prst="line">
            <a:avLst/>
          </a:prstGeom>
          <a:ln w="25400">
            <a:solidFill>
              <a:srgbClr val="C86F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Paper final ArtiFixer3D plus panel"/>
          <p:cNvSpPr/>
          <p:nvPr/>
        </p:nvSpPr>
        <p:spPr>
          <a:xfrm>
            <a:off x="10360152" y="1792224"/>
            <a:ext cx="1207008" cy="1024128"/>
          </a:xfrm>
          <a:prstGeom prst="rect">
            <a:avLst/>
          </a:prstGeom>
          <a:solidFill>
            <a:srgbClr val="FFF1E3"/>
          </a:solidFill>
          <a:ln w="15875">
            <a:solidFill>
              <a:srgbClr val="C86F18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Paper final ArtiFixer3D plus heading"/>
          <p:cNvSpPr txBox="1"/>
          <p:nvPr/>
        </p:nvSpPr>
        <p:spPr>
          <a:xfrm>
            <a:off x="10497312" y="1993392"/>
            <a:ext cx="9326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C86F18"/>
                </a:solidFill>
                <a:latin typeface="Noto Sans"/>
              </a:rPr>
              <a:t>Final
ArtiFixer3D+</a:t>
            </a:r>
          </a:p>
        </p:txBody>
      </p:sp>
      <p:sp>
        <p:nvSpPr>
          <p:cNvPr id="111" name="Paper final ArtiFixer3D plus caption"/>
          <p:cNvSpPr txBox="1"/>
          <p:nvPr/>
        </p:nvSpPr>
        <p:spPr>
          <a:xfrm>
            <a:off x="10479024" y="2441448"/>
            <a:ext cx="96926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87581"/>
                </a:solidFill>
                <a:latin typeface="Noto Sans"/>
              </a:rPr>
              <a:t>video restoration</a:t>
            </a:r>
          </a:p>
        </p:txBody>
      </p:sp>
      <p:cxnSp>
        <p:nvCxnSpPr>
          <p:cNvPr id="112" name="Paper final ArtiFixer3D plus to spherical fusion arrow"/>
          <p:cNvCxnSpPr/>
          <p:nvPr/>
        </p:nvCxnSpPr>
        <p:spPr>
          <a:xfrm>
            <a:off x="10963656" y="2852928"/>
            <a:ext cx="0" cy="329184"/>
          </a:xfrm>
          <a:prstGeom prst="line">
            <a:avLst/>
          </a:prstGeom>
          <a:ln w="25400">
            <a:solidFill>
              <a:srgbClr val="2E66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Paper spherical fusion ERP panel"/>
          <p:cNvSpPr/>
          <p:nvPr/>
        </p:nvSpPr>
        <p:spPr>
          <a:xfrm>
            <a:off x="9921240" y="3227832"/>
            <a:ext cx="2084831" cy="795528"/>
          </a:xfrm>
          <a:prstGeom prst="rect">
            <a:avLst/>
          </a:prstGeom>
          <a:solidFill>
            <a:srgbClr val="F8FBFD"/>
          </a:solidFill>
          <a:ln w="14604">
            <a:solidFill>
              <a:srgbClr val="2E6697"/>
            </a:solidFill>
          </a:ln>
          <a:effectLst>
            <a:outerShdw blurRad="0" dist="0" dir="0" algn="ctr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Paper spherical fusion ERP heading"/>
          <p:cNvSpPr txBox="1"/>
          <p:nvPr/>
        </p:nvSpPr>
        <p:spPr>
          <a:xfrm>
            <a:off x="10067544" y="3374136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E6697"/>
                </a:solidFill>
                <a:latin typeface="Noto Sans"/>
              </a:rPr>
              <a:t>Spherical fusion / ERP projection</a:t>
            </a:r>
          </a:p>
        </p:txBody>
      </p:sp>
      <p:sp>
        <p:nvSpPr>
          <p:cNvPr id="115" name="Paper circular seam caption"/>
          <p:cNvSpPr txBox="1"/>
          <p:nvPr/>
        </p:nvSpPr>
        <p:spPr>
          <a:xfrm>
            <a:off x="10058400" y="365760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581"/>
                </a:solidFill>
                <a:latin typeface="Noto Sans"/>
              </a:rPr>
              <a:t>overlapping frustums · circular horizontal seam</a:t>
            </a:r>
          </a:p>
        </p:txBody>
      </p:sp>
      <p:cxnSp>
        <p:nvCxnSpPr>
          <p:cNvPr id="116" name="Paper ERP projection to output arrow"/>
          <p:cNvCxnSpPr/>
          <p:nvPr/>
        </p:nvCxnSpPr>
        <p:spPr>
          <a:xfrm>
            <a:off x="10963656" y="4059936"/>
            <a:ext cx="0" cy="274320"/>
          </a:xfrm>
          <a:prstGeom prst="line">
            <a:avLst/>
          </a:prstGeom>
          <a:ln w="25400">
            <a:solidFill>
              <a:srgbClr val="2E66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Paper output ERP video frame" descr="framework_output_erp_figur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94392" y="4379976"/>
            <a:ext cx="1938528" cy="969264"/>
          </a:xfrm>
          <a:prstGeom prst="rect">
            <a:avLst/>
          </a:prstGeom>
        </p:spPr>
      </p:pic>
      <p:sp>
        <p:nvSpPr>
          <p:cNvPr id="118" name="Paper output ERP video outline"/>
          <p:cNvSpPr/>
          <p:nvPr/>
        </p:nvSpPr>
        <p:spPr>
          <a:xfrm>
            <a:off x="9994392" y="4379976"/>
            <a:ext cx="1938528" cy="969264"/>
          </a:xfrm>
          <a:prstGeom prst="rect">
            <a:avLst/>
          </a:prstGeom>
          <a:noFill/>
          <a:ln w="12700">
            <a:solidFill>
              <a:srgbClr val="91A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Paper output ERP video label"/>
          <p:cNvSpPr txBox="1"/>
          <p:nvPr/>
        </p:nvSpPr>
        <p:spPr>
          <a:xfrm>
            <a:off x="9957816" y="544982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2E6697"/>
                </a:solidFill>
                <a:latin typeface="Noto Sans"/>
              </a:rPr>
              <a:t>Equirectangular 360°
video (ERP)</a:t>
            </a:r>
          </a:p>
        </p:txBody>
      </p:sp>
      <p:sp>
        <p:nvSpPr>
          <p:cNvPr id="120" name="Paper source camera alignment caption"/>
          <p:cNvSpPr txBox="1"/>
          <p:nvPr/>
        </p:nvSpPr>
        <p:spPr>
          <a:xfrm>
            <a:off x="9866376" y="591616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87581"/>
                </a:solidFill>
                <a:latin typeface="Noto Sans"/>
              </a:rPr>
              <a:t>source camera centres + source-facing orientation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